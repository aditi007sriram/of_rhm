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00C9E4">
              <a:alpha val="8000"/>
            </a:srgbClr>
          </a:solidFill>
          <a:ln w="12700">
            <a:solidFill>
              <a:srgbClr val="00C9E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931920"/>
            <a:ext cx="2011680" cy="2011680"/>
          </a:xfrm>
          <a:prstGeom prst="ellipse">
            <a:avLst/>
          </a:prstGeom>
          <a:solidFill>
            <a:srgbClr val="F5A623">
              <a:alpha val="8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731520"/>
            <a:ext cx="1280160" cy="1280160"/>
          </a:xfrm>
          <a:prstGeom prst="ellipse">
            <a:avLst/>
          </a:prstGeom>
          <a:solidFill>
            <a:srgbClr val="E8424E">
              <a:alpha val="10000"/>
            </a:srgbClr>
          </a:solidFill>
          <a:ln w="12700">
            <a:solidFill>
              <a:srgbClr val="E8424E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38912"/>
            <a:ext cx="2560320" cy="283464"/>
          </a:xfrm>
          <a:prstGeom prst="roundRect">
            <a:avLst>
              <a:gd name="adj" fmla="val 16129"/>
            </a:avLst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8912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 ·  Final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41248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6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VANISHING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600" kern="0" dirty="0">
                <a:solidFill>
                  <a:srgbClr val="00C9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Target Defense via OpenFlow Random Host Mutation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 ·  OpenFlow 1.3  ·  Ryu Controller  ·  Mininet  ·  Raspberry Pi 5  ·  GPIO LEDs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Paper Behind This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we implement and directly extend.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841248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59536"/>
            <a:ext cx="8503920" cy="932688"/>
          </a:xfrm>
          <a:prstGeom prst="roundRect">
            <a:avLst>
              <a:gd name="adj" fmla="val 8824"/>
            </a:avLst>
          </a:prstGeom>
          <a:solidFill>
            <a:srgbClr val="0F2040"/>
          </a:solidFill>
          <a:ln w="19050">
            <a:solidFill>
              <a:srgbClr val="00C9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59536"/>
            <a:ext cx="8503920" cy="329184"/>
          </a:xfrm>
          <a:prstGeom prst="roundRect">
            <a:avLst>
              <a:gd name="adj" fmla="val 25000"/>
            </a:avLst>
          </a:prstGeom>
          <a:solidFill>
            <a:srgbClr val="006E7E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42416"/>
            <a:ext cx="8503920" cy="146304"/>
          </a:xfrm>
          <a:prstGeom prst="rect">
            <a:avLst/>
          </a:prstGeom>
          <a:solidFill>
            <a:srgbClr val="006E7E"/>
          </a:solidFill>
          <a:ln w="12700">
            <a:solidFill>
              <a:srgbClr val="006E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914400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91440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[23]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886968"/>
            <a:ext cx="7406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Jafarian, J. H., Al-Shaer, E. &amp; Duan, Q.  ·  ACM HotSDN, 2012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115214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"OpenFlow Random Host Mutation: Transparently Moving Target Defense using SDN"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2048256" cy="2926080"/>
          </a:xfrm>
          <a:prstGeom prst="roundRect">
            <a:avLst>
              <a:gd name="adj" fmla="val 4018"/>
            </a:avLst>
          </a:prstGeom>
          <a:solidFill>
            <a:srgbClr val="0F2040"/>
          </a:solidFill>
          <a:ln w="19050">
            <a:solidFill>
              <a:srgbClr val="00C9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920240"/>
            <a:ext cx="2048256" cy="329184"/>
          </a:xfrm>
          <a:prstGeom prst="roundRect">
            <a:avLst>
              <a:gd name="adj" fmla="val 25000"/>
            </a:avLst>
          </a:prstGeom>
          <a:solidFill>
            <a:srgbClr val="006E7E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103120"/>
            <a:ext cx="2048256" cy="146304"/>
          </a:xfrm>
          <a:prstGeom prst="rect">
            <a:avLst/>
          </a:prstGeom>
          <a:solidFill>
            <a:srgbClr val="006E7E"/>
          </a:solidFill>
          <a:ln w="12700">
            <a:solidFill>
              <a:srgbClr val="006E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9751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232257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IP Assignment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" y="2670048"/>
            <a:ext cx="1792224" cy="22860"/>
          </a:xfrm>
          <a:prstGeom prst="rect">
            <a:avLst/>
          </a:prstGeom>
          <a:solidFill>
            <a:srgbClr val="006E7E"/>
          </a:solidFill>
          <a:ln w="12700">
            <a:solidFill>
              <a:srgbClr val="006E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779776"/>
            <a:ext cx="1865376" cy="19202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real host (10.0.0.x) gets a random VIP from a large pool (172.16.0.0/16). Only the controller knows the real↔VIP mapping. Hosts communicate through VIPs transparently.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96312" y="1920240"/>
            <a:ext cx="2048256" cy="2926080"/>
          </a:xfrm>
          <a:prstGeom prst="roundRect">
            <a:avLst>
              <a:gd name="adj" fmla="val 4018"/>
            </a:avLst>
          </a:prstGeom>
          <a:solidFill>
            <a:srgbClr val="0F204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96312" y="1920240"/>
            <a:ext cx="2048256" cy="329184"/>
          </a:xfrm>
          <a:prstGeom prst="roundRect">
            <a:avLst>
              <a:gd name="adj" fmla="val 25000"/>
            </a:avLst>
          </a:prstGeom>
          <a:solidFill>
            <a:srgbClr val="7A501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96312" y="2103120"/>
            <a:ext cx="2048256" cy="146304"/>
          </a:xfrm>
          <a:prstGeom prst="rect">
            <a:avLst/>
          </a:prstGeom>
          <a:solidFill>
            <a:srgbClr val="7A5012"/>
          </a:solidFill>
          <a:ln w="12700">
            <a:solidFill>
              <a:srgbClr val="7A50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87752" y="19751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587752" y="232257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2-Table OpenFlow NAT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24328" y="2670048"/>
            <a:ext cx="1792224" cy="22860"/>
          </a:xfrm>
          <a:prstGeom prst="rect">
            <a:avLst/>
          </a:prstGeom>
          <a:solidFill>
            <a:srgbClr val="7A5012"/>
          </a:solidFill>
          <a:ln w="12700">
            <a:solidFill>
              <a:srgbClr val="7A50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87752" y="2779776"/>
            <a:ext cx="1865376" cy="19202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0 (outbound): rewrites src real→VIP. Table 1 (inbound): rewrites dst VIP→real. One packet gets both src and dst rewritten in sequence — impossible in single-table OpenFlow.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72584" y="1920240"/>
            <a:ext cx="2048256" cy="2926080"/>
          </a:xfrm>
          <a:prstGeom prst="roundRect">
            <a:avLst>
              <a:gd name="adj" fmla="val 4018"/>
            </a:avLst>
          </a:prstGeom>
          <a:solidFill>
            <a:srgbClr val="0F2040"/>
          </a:solidFill>
          <a:ln w="19050">
            <a:solidFill>
              <a:srgbClr val="29C9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72584" y="1920240"/>
            <a:ext cx="2048256" cy="329184"/>
          </a:xfrm>
          <a:prstGeom prst="roundRect">
            <a:avLst>
              <a:gd name="adj" fmla="val 25000"/>
            </a:avLst>
          </a:prstGeom>
          <a:solidFill>
            <a:srgbClr val="12504A"/>
          </a:solidFill>
          <a:ln w="12700">
            <a:solidFill>
              <a:srgbClr val="29C9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72584" y="2103120"/>
            <a:ext cx="2048256" cy="146304"/>
          </a:xfrm>
          <a:prstGeom prst="rect">
            <a:avLst/>
          </a:prstGeom>
          <a:solidFill>
            <a:srgbClr val="12504A"/>
          </a:solidFill>
          <a:ln w="12700">
            <a:solidFill>
              <a:srgbClr val="1250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64024" y="19751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64024" y="232257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Proxy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670048"/>
            <a:ext cx="1792224" cy="22860"/>
          </a:xfrm>
          <a:prstGeom prst="rect">
            <a:avLst/>
          </a:prstGeom>
          <a:solidFill>
            <a:srgbClr val="12504A"/>
          </a:solidFill>
          <a:ln w="12700">
            <a:solidFill>
              <a:srgbClr val="1250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64024" y="2779776"/>
            <a:ext cx="1865376" cy="19202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intercepts ARP "who has VIP?" queries and replies with the real host's MAC. VIPs appear as genuine live hosts to the attacker. No ARP flooding required.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48856" y="1920240"/>
            <a:ext cx="2048256" cy="2926080"/>
          </a:xfrm>
          <a:prstGeom prst="roundRect">
            <a:avLst>
              <a:gd name="adj" fmla="val 4018"/>
            </a:avLst>
          </a:prstGeom>
          <a:solidFill>
            <a:srgbClr val="0F2040"/>
          </a:solidFill>
          <a:ln w="19050">
            <a:solidFill>
              <a:srgbClr val="E8424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48856" y="1920240"/>
            <a:ext cx="2048256" cy="329184"/>
          </a:xfrm>
          <a:prstGeom prst="roundRect">
            <a:avLst>
              <a:gd name="adj" fmla="val 25000"/>
            </a:avLst>
          </a:prstGeom>
          <a:solidFill>
            <a:srgbClr val="6B1F24"/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8856" y="2103120"/>
            <a:ext cx="2048256" cy="146304"/>
          </a:xfrm>
          <a:prstGeom prst="rect">
            <a:avLst/>
          </a:prstGeom>
          <a:solidFill>
            <a:srgbClr val="6B1F24"/>
          </a:solidFill>
          <a:ln w="12700">
            <a:solidFill>
              <a:srgbClr val="6B1F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0296" y="19751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40296" y="232257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VIP Rotation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76872" y="2670048"/>
            <a:ext cx="1792224" cy="22860"/>
          </a:xfrm>
          <a:prstGeom prst="rect">
            <a:avLst/>
          </a:prstGeom>
          <a:solidFill>
            <a:srgbClr val="6B1F24"/>
          </a:solidFill>
          <a:ln w="12700">
            <a:solidFill>
              <a:srgbClr val="6B1F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0296" y="2779776"/>
            <a:ext cx="1865376" cy="19202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 seconds, the controller picks fresh VIPs for every host and reinstalls all NAT flows. Attacker's scan data becomes invalid the moment rotation fires.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Add On Top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specific contributions beyond the Jafarian 2012 base paper.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841248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59536"/>
            <a:ext cx="3566160" cy="4041648"/>
          </a:xfrm>
          <a:prstGeom prst="roundRect">
            <a:avLst>
              <a:gd name="adj" fmla="val 2308"/>
            </a:avLst>
          </a:prstGeom>
          <a:solidFill>
            <a:srgbClr val="0F2040"/>
          </a:solidFill>
          <a:ln w="19050">
            <a:solidFill>
              <a:srgbClr val="2A3F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59536"/>
            <a:ext cx="3566160" cy="329184"/>
          </a:xfrm>
          <a:prstGeom prst="roundRect">
            <a:avLst>
              <a:gd name="adj" fmla="val 25000"/>
            </a:avLst>
          </a:prstGeom>
          <a:solidFill>
            <a:srgbClr val="2A3F5A"/>
          </a:solidFill>
          <a:ln w="12700">
            <a:solidFill>
              <a:srgbClr val="8BA3B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42416"/>
            <a:ext cx="3566160" cy="146304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914400"/>
            <a:ext cx="2011680" cy="219456"/>
          </a:xfrm>
          <a:prstGeom prst="roundRect">
            <a:avLst>
              <a:gd name="adj" fmla="val 20833"/>
            </a:avLst>
          </a:prstGeom>
          <a:solidFill>
            <a:srgbClr val="8BA3BA"/>
          </a:solidFill>
          <a:ln w="12700">
            <a:solidFill>
              <a:srgbClr val="8BA3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9144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JAFARIAN ET AL. 2012  [23]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1261872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A3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OF-RHM: What They Built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" y="1755648"/>
            <a:ext cx="201168" cy="201168"/>
          </a:xfrm>
          <a:prstGeom prst="ellipse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72821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2-table NAT pipeline (T0 outbound, T1 inbound)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2176272"/>
            <a:ext cx="201168" cy="201168"/>
          </a:xfrm>
          <a:prstGeom prst="ellipse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1488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proxy for VIP resolution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" y="2596896"/>
            <a:ext cx="201168" cy="201168"/>
          </a:xfrm>
          <a:prstGeom prst="ellipse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569464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VIP rotation (fixed timer only)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" y="3017520"/>
            <a:ext cx="201168" cy="201168"/>
          </a:xfrm>
          <a:prstGeom prst="ellipse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99008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Mininet simulation environment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" y="3438144"/>
            <a:ext cx="201168" cy="201168"/>
          </a:xfrm>
          <a:prstGeom prst="ellipse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41071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scan detection or emergency rotation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" y="3858768"/>
            <a:ext cx="201168" cy="201168"/>
          </a:xfrm>
          <a:prstGeom prst="ellipse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83133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hardware deployment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" y="4279392"/>
            <a:ext cx="201168" cy="201168"/>
          </a:xfrm>
          <a:prstGeom prst="ellipse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25196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attack/rotation feedback indicators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032504" y="2542032"/>
            <a:ext cx="1078992" cy="493776"/>
          </a:xfrm>
          <a:prstGeom prst="roundRect">
            <a:avLst>
              <a:gd name="adj" fmla="val 16667"/>
            </a:avLst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32504" y="2542032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 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57800" y="859536"/>
            <a:ext cx="3566160" cy="4041648"/>
          </a:xfrm>
          <a:prstGeom prst="roundRect">
            <a:avLst>
              <a:gd name="adj" fmla="val 2308"/>
            </a:avLst>
          </a:prstGeom>
          <a:solidFill>
            <a:srgbClr val="0F2040"/>
          </a:solidFill>
          <a:ln w="19050">
            <a:solidFill>
              <a:srgbClr val="00C9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57800" y="859536"/>
            <a:ext cx="3566160" cy="329184"/>
          </a:xfrm>
          <a:prstGeom prst="roundRect">
            <a:avLst>
              <a:gd name="adj" fmla="val 25000"/>
            </a:avLst>
          </a:prstGeom>
          <a:solidFill>
            <a:srgbClr val="006E7E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57800" y="1042416"/>
            <a:ext cx="3566160" cy="146304"/>
          </a:xfrm>
          <a:prstGeom prst="rect">
            <a:avLst/>
          </a:prstGeom>
          <a:solidFill>
            <a:srgbClr val="006E7E"/>
          </a:solidFill>
          <a:ln w="12700">
            <a:solidFill>
              <a:srgbClr val="006E7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13248" y="914400"/>
            <a:ext cx="1920240" cy="219456"/>
          </a:xfrm>
          <a:prstGeom prst="roundRect">
            <a:avLst>
              <a:gd name="adj" fmla="val 20833"/>
            </a:avLst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13248" y="9144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EXTENSION (2026)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413248" y="1261872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Our Controller Adds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13248" y="1755648"/>
            <a:ext cx="201168" cy="201168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87568" y="172821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3-table pipeline + TCP monitoring flow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13248" y="2176272"/>
            <a:ext cx="201168" cy="201168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87568" y="21488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proxy — inherited, refined for Pi 5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13248" y="2596896"/>
            <a:ext cx="201168" cy="201168"/>
          </a:xfrm>
          <a:prstGeom prst="ellipse">
            <a:avLst/>
          </a:prstGeom>
          <a:solidFill>
            <a:srgbClr val="29C9B5"/>
          </a:solidFill>
          <a:ln w="12700">
            <a:solidFill>
              <a:srgbClr val="29C9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87568" y="2569464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emergency rotation on scan detect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13248" y="3017520"/>
            <a:ext cx="201168" cy="201168"/>
          </a:xfrm>
          <a:prstGeom prst="ellipse">
            <a:avLst/>
          </a:prstGeom>
          <a:solidFill>
            <a:srgbClr val="29C9B5"/>
          </a:solidFill>
          <a:ln w="12700">
            <a:solidFill>
              <a:srgbClr val="29C9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87568" y="299008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detection: 3 VIPs / 10 s → alert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13248" y="3438144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87568" y="341071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hardware deployment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13248" y="3858768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87568" y="383133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17 → Yellow LED (rotation blink)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13248" y="4279392"/>
            <a:ext cx="201168" cy="201168"/>
          </a:xfrm>
          <a:prstGeom prst="ellipse">
            <a:avLst/>
          </a:prstGeom>
          <a:solidFill>
            <a:srgbClr val="E8424E"/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87568" y="425196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27 → Red LED (3× on attack)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Software-Defined Networking?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technology that makes Moving Target Defense practical.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841248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59536"/>
            <a:ext cx="3931920" cy="4041648"/>
          </a:xfrm>
          <a:prstGeom prst="roundRect">
            <a:avLst>
              <a:gd name="adj" fmla="val 2093"/>
            </a:avLst>
          </a:prstGeom>
          <a:solidFill>
            <a:srgbClr val="0F2040"/>
          </a:solidFill>
          <a:ln w="19050">
            <a:solidFill>
              <a:srgbClr val="E842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59536"/>
            <a:ext cx="3931920" cy="329184"/>
          </a:xfrm>
          <a:prstGeom prst="roundRect">
            <a:avLst>
              <a:gd name="adj" fmla="val 25000"/>
            </a:avLst>
          </a:prstGeom>
          <a:solidFill>
            <a:srgbClr val="6B1F24"/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42416"/>
            <a:ext cx="3931920" cy="146304"/>
          </a:xfrm>
          <a:prstGeom prst="rect">
            <a:avLst/>
          </a:prstGeom>
          <a:solidFill>
            <a:srgbClr val="6B1F24"/>
          </a:solidFill>
          <a:ln w="12700">
            <a:solidFill>
              <a:srgbClr val="6B1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914400"/>
            <a:ext cx="1828800" cy="219456"/>
          </a:xfrm>
          <a:prstGeom prst="roundRect">
            <a:avLst>
              <a:gd name="adj" fmla="val 20833"/>
            </a:avLst>
          </a:prstGeom>
          <a:solidFill>
            <a:srgbClr val="E8424E"/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914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NETWORKING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1261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Tightly Coupled Control +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" y="1783080"/>
            <a:ext cx="201168" cy="201168"/>
          </a:xfrm>
          <a:prstGeom prst="ellipse">
            <a:avLst/>
          </a:prstGeom>
          <a:solidFill>
            <a:srgbClr val="E8424E"/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755648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router/switch has its own independent brain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2276856"/>
            <a:ext cx="201168" cy="201168"/>
          </a:xfrm>
          <a:prstGeom prst="ellipse">
            <a:avLst/>
          </a:prstGeom>
          <a:solidFill>
            <a:srgbClr val="E8424E"/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249424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rules are configured manually on every device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2770632"/>
            <a:ext cx="201168" cy="201168"/>
          </a:xfrm>
          <a:prstGeom prst="ellipse">
            <a:avLst/>
          </a:prstGeom>
          <a:solidFill>
            <a:srgbClr val="E8424E"/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743200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behavior = logging into each device one by one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" y="3264408"/>
            <a:ext cx="201168" cy="201168"/>
          </a:xfrm>
          <a:prstGeom prst="ellipse">
            <a:avLst/>
          </a:prstGeom>
          <a:solidFill>
            <a:srgbClr val="E8424E"/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236976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Reacting to an attack takes minutes to hours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" y="3758184"/>
            <a:ext cx="201168" cy="201168"/>
          </a:xfrm>
          <a:prstGeom prst="ellipse">
            <a:avLst/>
          </a:prstGeom>
          <a:solidFill>
            <a:srgbClr val="E8424E"/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730752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view of what the whole network is doing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07408" y="859536"/>
            <a:ext cx="27432" cy="4041648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9664" y="2606040"/>
            <a:ext cx="822960" cy="347472"/>
          </a:xfrm>
          <a:prstGeom prst="roundRect">
            <a:avLst>
              <a:gd name="adj" fmla="val 18421"/>
            </a:avLst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9664" y="26060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859536"/>
            <a:ext cx="3931920" cy="4041648"/>
          </a:xfrm>
          <a:prstGeom prst="roundRect">
            <a:avLst>
              <a:gd name="adj" fmla="val 2093"/>
            </a:avLst>
          </a:prstGeom>
          <a:solidFill>
            <a:srgbClr val="0F2040"/>
          </a:solidFill>
          <a:ln w="19050">
            <a:solidFill>
              <a:srgbClr val="00C9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859536"/>
            <a:ext cx="3931920" cy="329184"/>
          </a:xfrm>
          <a:prstGeom prst="roundRect">
            <a:avLst>
              <a:gd name="adj" fmla="val 25000"/>
            </a:avLst>
          </a:prstGeom>
          <a:solidFill>
            <a:srgbClr val="006E7E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1042416"/>
            <a:ext cx="3931920" cy="146304"/>
          </a:xfrm>
          <a:prstGeom prst="rect">
            <a:avLst/>
          </a:prstGeom>
          <a:solidFill>
            <a:srgbClr val="006E7E"/>
          </a:solidFill>
          <a:ln w="12700">
            <a:solidFill>
              <a:srgbClr val="006E7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47488" y="914400"/>
            <a:ext cx="1828800" cy="219456"/>
          </a:xfrm>
          <a:prstGeom prst="roundRect">
            <a:avLst>
              <a:gd name="adj" fmla="val 20833"/>
            </a:avLst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914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SOFTWARE-DEFINED NETWORKING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47488" y="1261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Plane Separated from Data Plane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47488" y="1783080"/>
            <a:ext cx="201168" cy="201168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21808" y="1755648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(WHAT to do) lives in one central controller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47488" y="2276856"/>
            <a:ext cx="201168" cy="201168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21808" y="2249424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 (HOW to forward) runs in the switch hardware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47488" y="2770632"/>
            <a:ext cx="201168" cy="201168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21808" y="2743200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programs every switch via OpenFlow protocol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47488" y="3264408"/>
            <a:ext cx="201168" cy="201168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1808" y="3236976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 change = instant network-wide reprogramming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47488" y="3758184"/>
            <a:ext cx="201168" cy="201168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21808" y="3730752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MTD: rotate all VIPs across the network in ms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stack:  Ryu (Python controller)  →  OpenFlow 1.3  →  Open vSwitch (OVS)  →  Mininet  →  Raspberry Pi 5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Simulation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 on a single machine — Mininet + Ryu proving the defense works.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841248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59536"/>
            <a:ext cx="5303520" cy="2084832"/>
          </a:xfrm>
          <a:prstGeom prst="roundRect">
            <a:avLst>
              <a:gd name="adj" fmla="val 3947"/>
            </a:avLst>
          </a:prstGeom>
          <a:solidFill>
            <a:srgbClr val="0F2040"/>
          </a:solidFill>
          <a:ln w="19050">
            <a:solidFill>
              <a:srgbClr val="00C9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59536"/>
            <a:ext cx="5303520" cy="329184"/>
          </a:xfrm>
          <a:prstGeom prst="roundRect">
            <a:avLst>
              <a:gd name="adj" fmla="val 25000"/>
            </a:avLst>
          </a:prstGeom>
          <a:solidFill>
            <a:srgbClr val="006E7E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42416"/>
            <a:ext cx="5303520" cy="146304"/>
          </a:xfrm>
          <a:prstGeom prst="rect">
            <a:avLst/>
          </a:prstGeom>
          <a:solidFill>
            <a:srgbClr val="006E7E"/>
          </a:solidFill>
          <a:ln w="12700">
            <a:solidFill>
              <a:srgbClr val="006E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886968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MININET TOPOLOGY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04288" y="1664208"/>
            <a:ext cx="1426464" cy="621792"/>
          </a:xfrm>
          <a:prstGeom prst="roundRect">
            <a:avLst>
              <a:gd name="adj" fmla="val 11765"/>
            </a:avLst>
          </a:prstGeom>
          <a:solidFill>
            <a:srgbClr val="132645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4288" y="1664208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 (OVS)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1078992"/>
            <a:ext cx="1188720" cy="457200"/>
          </a:xfrm>
          <a:prstGeom prst="roundRect">
            <a:avLst>
              <a:gd name="adj" fmla="val 14000"/>
            </a:avLst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0789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9C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 10.0.0.1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64208" y="1271016"/>
            <a:ext cx="640080" cy="27432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591056"/>
            <a:ext cx="1188720" cy="457200"/>
          </a:xfrm>
          <a:prstGeom prst="roundRect">
            <a:avLst>
              <a:gd name="adj" fmla="val 14000"/>
            </a:avLst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5910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9C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  10.0.0.2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64208" y="1783080"/>
            <a:ext cx="640080" cy="27432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2103120"/>
            <a:ext cx="1188720" cy="457200"/>
          </a:xfrm>
          <a:prstGeom prst="roundRect">
            <a:avLst>
              <a:gd name="adj" fmla="val 14000"/>
            </a:avLst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103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9C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  10.0.0.3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664208" y="2295144"/>
            <a:ext cx="640080" cy="27432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2615184"/>
            <a:ext cx="1188720" cy="457200"/>
          </a:xfrm>
          <a:prstGeom prst="roundRect">
            <a:avLst>
              <a:gd name="adj" fmla="val 14000"/>
            </a:avLst>
          </a:prstGeom>
          <a:solidFill>
            <a:srgbClr val="6B1F24"/>
          </a:solidFill>
          <a:ln w="9525">
            <a:solidFill>
              <a:srgbClr val="E842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6151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4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84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10.0.0.99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664208" y="2843784"/>
            <a:ext cx="640080" cy="27432"/>
          </a:xfrm>
          <a:prstGeom prst="rect">
            <a:avLst/>
          </a:prstGeom>
          <a:solidFill>
            <a:srgbClr val="E8424E"/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59936" y="1664208"/>
            <a:ext cx="1335024" cy="621792"/>
          </a:xfrm>
          <a:prstGeom prst="roundRect">
            <a:avLst>
              <a:gd name="adj" fmla="val 11765"/>
            </a:avLst>
          </a:prstGeom>
          <a:solidFill>
            <a:srgbClr val="13264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9936" y="1664208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:6653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30752" y="1956816"/>
            <a:ext cx="329184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17922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OpenFlow 1.3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806440" y="859536"/>
            <a:ext cx="3017520" cy="4041648"/>
          </a:xfrm>
          <a:prstGeom prst="roundRect">
            <a:avLst>
              <a:gd name="adj" fmla="val 2727"/>
            </a:avLst>
          </a:prstGeom>
          <a:solidFill>
            <a:srgbClr val="0F204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06440" y="859536"/>
            <a:ext cx="3017520" cy="329184"/>
          </a:xfrm>
          <a:prstGeom prst="roundRect">
            <a:avLst>
              <a:gd name="adj" fmla="val 25000"/>
            </a:avLst>
          </a:prstGeom>
          <a:solidFill>
            <a:srgbClr val="7A501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06440" y="1042416"/>
            <a:ext cx="3017520" cy="146304"/>
          </a:xfrm>
          <a:prstGeom prst="rect">
            <a:avLst/>
          </a:prstGeom>
          <a:solidFill>
            <a:srgbClr val="7A5012"/>
          </a:solidFill>
          <a:ln w="12700">
            <a:solidFill>
              <a:srgbClr val="7A50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0176" y="886968"/>
            <a:ext cx="2670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SEQUENCE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0" y="1298448"/>
            <a:ext cx="2743200" cy="603504"/>
          </a:xfrm>
          <a:prstGeom prst="roundRect">
            <a:avLst>
              <a:gd name="adj" fmla="val 10606"/>
            </a:avLst>
          </a:prstGeom>
          <a:solidFill>
            <a:srgbClr val="0F2040"/>
          </a:solidFill>
          <a:ln w="9525">
            <a:solidFill>
              <a:srgbClr val="00C9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16752" y="1353312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16752" y="13533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784848" y="13533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16752" y="159105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ping each other. Controller learns MACs and assigns VIPs from 172.16.0.0/16.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943600" y="1975104"/>
            <a:ext cx="2743200" cy="603504"/>
          </a:xfrm>
          <a:prstGeom prst="roundRect">
            <a:avLst>
              <a:gd name="adj" fmla="val 10606"/>
            </a:avLst>
          </a:prstGeom>
          <a:solidFill>
            <a:srgbClr val="0F2040"/>
          </a:solidFill>
          <a:ln w="9525">
            <a:solidFill>
              <a:srgbClr val="E8424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16752" y="2029968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E8424E"/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16752" y="202996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784848" y="2029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16752" y="226771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runs nmap -sn on 172.16.0.0/16. Discovers 3 active VIPs. Controller sees SYNs.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943600" y="2651760"/>
            <a:ext cx="2743200" cy="603504"/>
          </a:xfrm>
          <a:prstGeom prst="roundRect">
            <a:avLst>
              <a:gd name="adj" fmla="val 10606"/>
            </a:avLst>
          </a:prstGeom>
          <a:solidFill>
            <a:srgbClr val="0F2040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16752" y="2706624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16752" y="270662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784848" y="27066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16752" y="294436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or scheduled rotation fires. All VIPs replaced. Yellow LED blinks.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943600" y="3328416"/>
            <a:ext cx="2743200" cy="603504"/>
          </a:xfrm>
          <a:prstGeom prst="roundRect">
            <a:avLst>
              <a:gd name="adj" fmla="val 10606"/>
            </a:avLst>
          </a:prstGeom>
          <a:solidFill>
            <a:srgbClr val="0F2040"/>
          </a:solidFill>
          <a:ln w="9525">
            <a:solidFill>
              <a:srgbClr val="E8424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16752" y="3383280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E8424E"/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16752" y="33832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784848" y="3383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Re-scan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016752" y="36210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scans again. Gets 3 completely different addresses. Zero overlap.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943600" y="4005072"/>
            <a:ext cx="2743200" cy="603504"/>
          </a:xfrm>
          <a:prstGeom prst="roundRect">
            <a:avLst>
              <a:gd name="adj" fmla="val 10606"/>
            </a:avLst>
          </a:prstGeom>
          <a:solidFill>
            <a:srgbClr val="0F2040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16752" y="4059936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29C9B5"/>
          </a:solidFill>
          <a:ln w="12700">
            <a:solidFill>
              <a:srgbClr val="29C9B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16752" y="405993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784848" y="4059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016752" y="429768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pings h2 via new VIP. 0% packet loss. Legitimate traffic uninterrupted.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0040" y="3017520"/>
            <a:ext cx="5303520" cy="731520"/>
          </a:xfrm>
          <a:prstGeom prst="roundRect">
            <a:avLst>
              <a:gd name="adj" fmla="val 11250"/>
            </a:avLst>
          </a:prstGeom>
          <a:solidFill>
            <a:srgbClr val="0F2040"/>
          </a:solidFill>
          <a:ln w="19050">
            <a:solidFill>
              <a:srgbClr val="2A3F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" y="30906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Pool:  172.16.0.0/16  →  65,534 possible addresses.  Attacker cannot predict next rotation.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75488" y="334670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0% address overlap between scan 1 and scan 2. MTD proven in software.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Hardware Demo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system, real hardware — Raspberry Pi 5 with GPIO LED indicators.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841248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59536"/>
            <a:ext cx="5303520" cy="4041648"/>
          </a:xfrm>
          <a:prstGeom prst="roundRect">
            <a:avLst>
              <a:gd name="adj" fmla="val 2036"/>
            </a:avLst>
          </a:prstGeom>
          <a:solidFill>
            <a:srgbClr val="0F204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59536"/>
            <a:ext cx="5303520" cy="329184"/>
          </a:xfrm>
          <a:prstGeom prst="roundRect">
            <a:avLst>
              <a:gd name="adj" fmla="val 25000"/>
            </a:avLst>
          </a:prstGeom>
          <a:solidFill>
            <a:srgbClr val="7A501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42416"/>
            <a:ext cx="5303520" cy="146304"/>
          </a:xfrm>
          <a:prstGeom prst="rect">
            <a:avLst/>
          </a:prstGeom>
          <a:solidFill>
            <a:srgbClr val="7A5012"/>
          </a:solidFill>
          <a:ln w="12700">
            <a:solidFill>
              <a:srgbClr val="7A50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886968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DEPLOYMENT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3776" y="1261872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3264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3776" y="15727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Cortex-A76 @ 2.4 GHz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LPDDR4X  ·  Raspbian Bookworm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OVS 3.1  ·  Ryu 4.34  ·  Python 3.11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3776" y="23774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on the Pi: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" y="2724912"/>
            <a:ext cx="201168" cy="201168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697480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launch.py         monkey-patches eventlet, then starts ryu-manager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" y="3127248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099816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controller.py     MTDController: VIP manager, scan detector, REST API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3776" y="3529584"/>
            <a:ext cx="201168" cy="201168"/>
          </a:xfrm>
          <a:prstGeom prst="ellipse">
            <a:avLst/>
          </a:prstGeom>
          <a:solidFill>
            <a:srgbClr val="29C9B5"/>
          </a:solidFill>
          <a:ln w="12700">
            <a:solidFill>
              <a:srgbClr val="29C9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502152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led.py            lgpio (Pi 5) / RPi.GPIO (Pi 4) GPIO control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3776" y="3931920"/>
            <a:ext cx="201168" cy="201168"/>
          </a:xfrm>
          <a:prstGeom prst="ellipse">
            <a:avLst/>
          </a:prstGeom>
          <a:solidFill>
            <a:srgbClr val="8BA3BA"/>
          </a:solidFill>
          <a:ln w="12700">
            <a:solidFill>
              <a:srgbClr val="8BA3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904488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demo.py           automated Mininet scenario on real CPU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" y="433425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00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run:   ssh pi@raspberrypi.local   →   python3 launch.py   (terminal 1)   →   sudo python3 demo.py   (terminal 2)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806440" y="859536"/>
            <a:ext cx="3017520" cy="4041648"/>
          </a:xfrm>
          <a:prstGeom prst="roundRect">
            <a:avLst>
              <a:gd name="adj" fmla="val 2727"/>
            </a:avLst>
          </a:prstGeom>
          <a:solidFill>
            <a:srgbClr val="0F2040"/>
          </a:solidFill>
          <a:ln w="19050">
            <a:solidFill>
              <a:srgbClr val="29C9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06440" y="859536"/>
            <a:ext cx="3017520" cy="329184"/>
          </a:xfrm>
          <a:prstGeom prst="roundRect">
            <a:avLst>
              <a:gd name="adj" fmla="val 25000"/>
            </a:avLst>
          </a:prstGeom>
          <a:solidFill>
            <a:srgbClr val="12504A"/>
          </a:solidFill>
          <a:ln w="12700">
            <a:solidFill>
              <a:srgbClr val="29C9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1042416"/>
            <a:ext cx="3017520" cy="146304"/>
          </a:xfrm>
          <a:prstGeom prst="rect">
            <a:avLst/>
          </a:prstGeom>
          <a:solidFill>
            <a:srgbClr val="12504A"/>
          </a:solidFill>
          <a:ln w="12700">
            <a:solidFill>
              <a:srgbClr val="1250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0176" y="886968"/>
            <a:ext cx="2670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WIRING  (BCM numbering)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0" y="1261872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0F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53328" y="1591056"/>
            <a:ext cx="310896" cy="3108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53328" y="1298448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LED — Scheduled Rotation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53328" y="153619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 17 (pin 11)  →  330Ω  →  LED+  →  GND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53328" y="1792224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600 ms blink on every scheduled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rotation.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43600" y="256032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0F2040"/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53328" y="2889504"/>
            <a:ext cx="310896" cy="310896"/>
          </a:xfrm>
          <a:prstGeom prst="ellipse">
            <a:avLst/>
          </a:prstGeom>
          <a:solidFill>
            <a:srgbClr val="E8424E"/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2596896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 — Scan Detected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53328" y="283464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 27 (pin 13)  →  330Ω  →  LED+  →  GND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53328" y="3090672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rapid 200 ms blinks when scan is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declared. Emergency rotation follows.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943600" y="3858768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LEDs need a 330Ω current-limiting resistor to protect Pi GPIO (3.3 V, ~10 mA max).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0" y="1097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49377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[23]-[26]  —  direct predecessors we implement and extend.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91840"/>
                <a:gridCol w="292608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&amp; 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IDEA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/ RELATION TO OUR 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E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"OpenFlow Random Host Mutation"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Jafarian, Al-Shaer &amp; Duan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 HotSDN, 2012  [23]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SDN-based MTD via VIP rotation. 2-table OpenFlow NAT: T0 rewrites src outbound (real→VIP), T1 rewrites dst inbound (VIP→real). ARP proxy makes VIPs appear as real hosts. Timer-based scheduled rotation.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direct base paper. We add a 3rd table for TCP monitoring, reactive scan detection, GPIO LEDs, and Raspberry Pi 5 deployment.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"An Effective Address Mutation Approach for Disrupting Reconnaissance"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Jafarian, Al-Shaer &amp; Duan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TIFS, 2015  [24]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Extends OF-RHM with formal probabilistic analysis. Derives "proactive agility" — the mutation rate that maximizes the probability an attacker's discovered VIP is already stale before they can exploit it.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 strategy optimization only. No reactive scan detection or emergency rotation. No physical hardware. We implement their rotation idea with added reactivity.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"MT6D: A Moving Target IPv6 Defense"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Dunlop, Groat, Marchany &amp; Tront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MILCOM, 2011  [25]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MTD to IPv6 using stateless address autoconfiguration. Randomizes host IPv6 addresses on a schedule, making network scanning computationally infeasible even for determined attackers.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IPv6-only — not applicable to IPv4/SDN. No OpenFlow or controller-based NAT pipeline. No scan detection or emergency rotation. No embedded hardware deployment.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"SDN-based Solutions for Moving Target Defense"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Kampanakis, Perros &amp; Beyene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WoWMoM, 2014  [26]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Implements IP and port randomization using SDN. Benchmarks per-packet overhead of controller-managed mutation and confirms feasibility at network scale. Both address and port dimensions mutated.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3-table pipeline or TCP monitoring for post-NAT scan visibility. No reactive scan detection or emergency rotation. No physical hardware or embedded deployment.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0" y="1097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49377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[27]-[30]  —  direct predecessors we implement and extend.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91840"/>
                <a:gridCol w="292608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&amp; 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IDEA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/ RELATION TO OUR 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E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"Frequency-Minimal Moving Target Defense using SDN"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Debroy, Calyam &amp; Nguyen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ICNC, 2016  [27]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Derives the minimum mutation frequency needed to maintain a target defense level while minimizing bandwidth and CPU overhead. Proposes adaptive rotation intervals based on threat probability and network load.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optimization only — no reactive scan detection or emergency rotation. No TCP monitoring. No physical hardware or embedded system validation.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"Effectiveness of Moving Target Defenses"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Evans, Nguyen-Tuong &amp; Knight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 MTD, 2011  [28]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Establishes the theoretical foundation for evaluating MTD. Defines formal metrics: attack surface reduction, reconnaissance disruption probability, and the cost-effectiveness tradeoff of randomization strategies.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Analytical study only — no SDN or network-layer implementation. No scan detection. Metrics not validated against real attack tools or physical hardware.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"Creating a Cyber Moving Target for Critical Infrastructure"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Okhravi, Comella, Robinson &amp; Haines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Computers &amp; Security, 2012  [29]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 Lincoln Lab: proposes MTD for critical infrastructure via platform diversity — rotating OS types, services, and addresses. Shows heterogeneity makes attacker reconnaissance persistently stale without SDN.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diversity approach — not SDN-based address mutation. No OpenFlow or controller NAT. No reactive scan detection. No embedded hardware deployment.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"Optimal Strategy Selection for MTD Based on Markov Game"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Lei, Ma &amp; Zhang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Access, 2017  [30]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the attacker-defender MTD interaction as a two-player zero-sum Markov game. Computes Nash equilibrium rotation strategies that provably maximize defense quality relative to network overhead cost.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Game-theoretic model only — no SDN or OpenFlow implementation. Cannot detect or react to live scans. Theory not validated on a live network or physical hardware.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0" y="1097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49377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[11]-[16]  —  broader MTD landscape that contextualises our work.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91840"/>
                <a:gridCol w="2926080"/>
              </a:tblGrid>
              <a:tr h="6126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&amp; 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IDEA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/ RELATION TO OUR 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"Network Address Space Randomization"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Antonatos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Networks, 2007  [11]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Randomizes host IP addresses at the OS level to defend against hitlist worms. Pre-SDN: no centralized controller, no transparent NAT for legitimate traffic.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SDN or OpenFlow. No transparent NAT — all clients must know real IPs. Our work improves upon this with controller-managed VIPs invisible to legitimate hosts.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"NOMAD: Non-Intrusive MTD Against Web Bots"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Vikram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CNS, 2011  [12]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MTD to web applications by periodically changing URLs, form field names, and JavaScript tokens to confuse automated bots without affecting human users.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Application-layer MTD only — unrelated to network-layer IP rotation. Our work operates at the SDN data plane, not the web application layer.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"Toward Proactive, Adaptive Defense: A Survey on MTD"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COMST, 2020  [13]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survey of 200+ MTD papers across network, OS, software, and data MTD. Taxonomizes techniques and identifies open problems in reactive and adaptive defense.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paper — no implementation. We use this as our taxonomy reference to position our reactive scan detection as a novel contribution to network MTD.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"Effective MTD for SDN-based Cloud Networks"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TrustCom, 2017  [14]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OF-RHM style VIP rotation to cloud SDN environments (OpenStack). Handles multi-tenant isolation and inter-VM traffic while rotating VIPs across cloud instances.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Cloud-focused: assumes unlimited compute and high-bandwidth fabric. We target resource-constrained embedded hardware (Pi 5). No scan detection or physical indicators.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"Assessing the Effectiveness of MTD Using Security Models"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Hong &amp; Kim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TDSC, 2016  [15]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Proposes graphical security models (attack graphs + MTD) to quantify how much a given MTD strategy reduces the probability of successful attack. Formal evaluation framework.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framework only — no SDN implementation or physical deployment. We plan to use their metrics for our final review performance analysis.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"Towards a Theory of Moving Target Defense"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Zhuang, DeLoach &amp; Ou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 MTD Workshop, 2014  [16]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Formalises MTD as a system reconfiguration problem. Defines correctness (legitimate users unaffected), security (attackers disrupted), and efficiency (overhead minimised) as the three MTD axioms.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Theoretical framework only — no SDN or network implementation. Our controller.py instantiates their correctness and security axioms in a working OpenFlow system.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0" y="1097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49377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[17]-[22]  —  broader MTD landscape that contextualises our work.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91840"/>
                <a:gridCol w="2926080"/>
              </a:tblGrid>
              <a:tr h="6126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&amp; 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IDEA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/ RELATION TO OUR 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"MTD for Cloud Services with Heterogeneous Attack Surfaces"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Peng, Li, Huang &amp; Zou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ICC, 2014  [17]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strategy for cloud VMs combining IP mutation, service migration, and OS diversity. Adapts the rotation rate based on estimated threat level using a Markov decision process.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and VM-focused. Requires cloud infrastructure. We target a single embedded Pi 5. Their adaptive rate idea inspires our scan-triggered emergency rotation.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"MTD for IoT Using the MQTT Protocol"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Access, 2020  [18]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IP and port hopping MTD to MQTT-based IoT devices. Lightweight implementation designed for constrained devices; rotates connection endpoints to prevent IoT-targeted attacks.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IoT/MQTT specific — not SDN or OpenFlow. We share the resource-constrained hardware goal (Pi 5) but use a full SDN stack rather than lightweight endpoint hopping.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"Adaptive Use of Network-Centric Mechanisms in Cyber-Defense"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Atighetchi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SRDS, 2003  [19]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adaptive cyber-defense: dynamically adjusts network configurations (routing, filtering, address allocation) in response to detected intrusions. Pre-SDN precursor to controller-based MTD.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Pre-SDN: per-device configuration changes, not centralized OpenFlow. No VIP pool or NAT pipeline. Conceptual ancestor of our controller-driven dynamic reconfiguration.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"Spatio-Temporal Address Mutation for Proactive Cyber Agility"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Jafarian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 MTD, 2014  [20]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Extends OF-RHM with both spatial mutation (different VIPs) and temporal mutation (different rotation schedules per host). Models attacker's information gain to derive optimal mutation policies.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authors as [23]. Adds temporal dimension to our base paper but still no reactive detection or physical hardware. Complements our scan-triggered emergency rotation idea.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"Bro: A System for Detecting Network Intruders in Real-Time"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Paxson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USENIX Security, 1998  [21]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Foundational network intrusion detection system. Bro (now Zeek) performs passive traffic analysis using an event-driven policy language. Widely used in enterprise security monitoring.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detection only — does not reconfigure the network. Our controller goes further: detects and immediately responds by rotating VIPs, combining detection and active defense.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"Fake Honeypots: A Defensive Tactic for Cyberspace"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Rowe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IAW, 2006  [22]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Deploys decoy hosts and services that mimic real systems to mislead attackers. Attacker wastes time attacking the decoy while real systems are protected.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Deception-based defense, not address mutation. Conceptually related — both make the attacker's reconnaissance stale. Our VIPs are a form of dynamic deception at the network layer.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 (1 / 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852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 THIS WORK  —  BACKGROUND &amp; INFRASTRUCTURE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32104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96112"/>
            <a:ext cx="45720" cy="676656"/>
          </a:xfrm>
          <a:prstGeom prst="rect">
            <a:avLst/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9144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914400"/>
            <a:ext cx="7955280" cy="23774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McKeown, N. et al. (2008). "OpenFlow: Enabling Innovation in Campus Networks." ACM SIGCOMM CCR, 38(2), pp. 69-74.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1887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OpenFlow's founding paper — the protocol our controller uses to push NAT rewrite rules into OVS.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1645920"/>
            <a:ext cx="45720" cy="676656"/>
          </a:xfrm>
          <a:prstGeom prst="rect">
            <a:avLst/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6642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1664208"/>
            <a:ext cx="7955280" cy="23774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Lantz, B., Heller, B. &amp; McKeown, N. (2010). "A Network in a Laptop: Rapid Prototyping for SDNs." ACM HotNets-IX.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1938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Mininet — the network emulator we use for simulation.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" y="2395728"/>
            <a:ext cx="45720" cy="676656"/>
          </a:xfrm>
          <a:prstGeom prst="rect">
            <a:avLst/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4140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2414016"/>
            <a:ext cx="7955280" cy="23774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Pfaff, B. et al. (2015). "The Design and Implementation of Open vSwitch." USENIX NSDI, pp. 117-130.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6883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OVS — the software switch our controller programs via OpenFlow to enforce all VIP translation rules.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3145536"/>
            <a:ext cx="45720" cy="676656"/>
          </a:xfrm>
          <a:prstGeom prst="rect">
            <a:avLst/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16382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163824"/>
            <a:ext cx="7955280" cy="23774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Kreutz, D. et al. (2015). "Software-Defined Networking: A Comprehensive Survey." Proceedings of the IEEE, 103(1), pp. 14-76.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34381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SDN survey — background for understanding our system design.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3895344"/>
            <a:ext cx="45720" cy="676656"/>
          </a:xfrm>
          <a:prstGeom prst="rect">
            <a:avLst/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39136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39136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Postel, J. (1981). "Internet Protocol." IETF RFC 791.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41879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specification — defines the packet format our NAT rewrite rules operate on.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 (2 / 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852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 THIS WORK  —  BACKGROUND &amp; INFRASTRUCTURE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32104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96112"/>
            <a:ext cx="45720" cy="676656"/>
          </a:xfrm>
          <a:prstGeom prst="rect">
            <a:avLst/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9144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914400"/>
            <a:ext cx="7955280" cy="23774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Braden, R. (1989). "Requirements for Internet Hosts — Communication Layers." IETF RFC 1122.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1887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communication requirements — relevant to how hosts probe VIPs and respond to TCP/ICMP.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1645920"/>
            <a:ext cx="45720" cy="676656"/>
          </a:xfrm>
          <a:prstGeom prst="rect">
            <a:avLst/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6642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1664208"/>
            <a:ext cx="7955280" cy="23774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Narten, T. et al. (2007). "Privacy Extensions for Stateless Address Autoconfiguration in IPv6." IETF RFC 4941.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1938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address randomization — conceptual precursor to our network-layer VIP rotation.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" y="2395728"/>
            <a:ext cx="45720" cy="676656"/>
          </a:xfrm>
          <a:prstGeom prst="rect">
            <a:avLst/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4140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2414016"/>
            <a:ext cx="7955280" cy="23774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Scott-Hayward, S., O'Callaghan, G. &amp; Sezer, S. (2013). "SDN Security: A Survey." IEEE SDN4FNS, pp. 1-7.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6883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security survey — why the controller is both a defense tool and a high-value target.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3145536"/>
            <a:ext cx="45720" cy="676656"/>
          </a:xfrm>
          <a:prstGeom prst="rect">
            <a:avLst/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16382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163824"/>
            <a:ext cx="7955280" cy="23774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Bellovin, S. M. (1989). "Security Problems in the TCP/IP Protocol Suite." ACM SIGCOMM CCR, 19(2), pp. 32-48.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34381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TCP/IP vulnerabilities — directly motivates why network-layer defenses like MTD are needed.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3895344"/>
            <a:ext cx="45720" cy="676656"/>
          </a:xfrm>
          <a:prstGeom prst="rect">
            <a:avLst/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39136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39136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Durumeric, Z., Wustrow, E. &amp; Halderman, J. A. (2013). "ZMap: Fast Internet-Wide Scanning and its Security Implications." USENIX Security, pp. 605-619.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41879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ZMap scans the entire IPv4 internet in 45 min — the exact threat our VIP rotation defeats.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 (3 / 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852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PAPERS MENTIONED IN PPT  —  LITERATURE REVIEW  (Slides 7-8)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32104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32688"/>
            <a:ext cx="45720" cy="329184"/>
          </a:xfrm>
          <a:prstGeom prst="rect">
            <a:avLst/>
          </a:prstGeom>
          <a:solidFill>
            <a:srgbClr val="006E7E"/>
          </a:solidFill>
          <a:ln w="9525">
            <a:solidFill>
              <a:srgbClr val="00C9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14400"/>
            <a:ext cx="8321040" cy="42062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[23]  Jafarian, J. H., Al-Shaer, E. &amp; Duan, Q. (2012). "OpenFlow Random Host Mutation: Transparently Moving Target Defense using SDN." ACM HotSDN.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1426464"/>
            <a:ext cx="45720" cy="329184"/>
          </a:xfrm>
          <a:prstGeom prst="rect">
            <a:avLst/>
          </a:prstGeom>
          <a:solidFill>
            <a:srgbClr val="006E7E"/>
          </a:solidFill>
          <a:ln w="9525">
            <a:solidFill>
              <a:srgbClr val="00C9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408176"/>
            <a:ext cx="8321040" cy="42062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[24]  Jafarian, J. H., Al-Shaer, E. &amp; Duan, Q. (2015). "An Effective Address Mutation Approach for Disrupting Reconnaissance Activities." IEEE Trans. Information Forensics &amp; Security, 10(12), pp. 2562-2577.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1920240"/>
            <a:ext cx="45720" cy="329184"/>
          </a:xfrm>
          <a:prstGeom prst="rect">
            <a:avLst/>
          </a:prstGeom>
          <a:solidFill>
            <a:srgbClr val="006E7E"/>
          </a:solidFill>
          <a:ln w="9525">
            <a:solidFill>
              <a:srgbClr val="00C9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01952"/>
            <a:ext cx="8321040" cy="42062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[25]  Dunlop, M. et al. (2011). "MT6D: A Moving Target IPv6 Defense." IEEE MILCOM.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2414016"/>
            <a:ext cx="45720" cy="329184"/>
          </a:xfrm>
          <a:prstGeom prst="rect">
            <a:avLst/>
          </a:prstGeom>
          <a:solidFill>
            <a:srgbClr val="006E7E"/>
          </a:solidFill>
          <a:ln w="9525">
            <a:solidFill>
              <a:srgbClr val="00C9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395728"/>
            <a:ext cx="8321040" cy="42062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[26]  Kampanakis, P., Perros, H. &amp; Beyene, T. (2014). "SDN-based Solutions for Moving Target Defense Network Application." IEEE WoWMoM.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907792"/>
            <a:ext cx="45720" cy="329184"/>
          </a:xfrm>
          <a:prstGeom prst="rect">
            <a:avLst/>
          </a:prstGeom>
          <a:solidFill>
            <a:srgbClr val="006E7E"/>
          </a:solidFill>
          <a:ln w="9525">
            <a:solidFill>
              <a:srgbClr val="00C9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889504"/>
            <a:ext cx="8321040" cy="42062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[27]  Debroy, S., Calyam, P. &amp; Nguyen, M. (2016). "Frequency-Minimal Moving Target Defense using SDN." IEEE ICNC.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3401568"/>
            <a:ext cx="45720" cy="329184"/>
          </a:xfrm>
          <a:prstGeom prst="rect">
            <a:avLst/>
          </a:prstGeom>
          <a:solidFill>
            <a:srgbClr val="006E7E"/>
          </a:solidFill>
          <a:ln w="9525">
            <a:solidFill>
              <a:srgbClr val="00C9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383280"/>
            <a:ext cx="8321040" cy="42062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[28]  Evans, D., Nguyen-Tuong, A. &amp; Knight, J. (2011). "Effectiveness of Moving Target Defenses." In: Moving Target Defense. Springer.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3895344"/>
            <a:ext cx="45720" cy="329184"/>
          </a:xfrm>
          <a:prstGeom prst="rect">
            <a:avLst/>
          </a:prstGeom>
          <a:solidFill>
            <a:srgbClr val="006E7E"/>
          </a:solidFill>
          <a:ln w="9525">
            <a:solidFill>
              <a:srgbClr val="00C9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877056"/>
            <a:ext cx="8321040" cy="42062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[29]  Okhravi, H., Comella, A., Robinson, E. &amp; Haines, J. (2012). "Creating a Cyber Moving Target for Critical Infrastructure Applications." Computers &amp; Security, 31(8), pp. 879-887.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4389120"/>
            <a:ext cx="45720" cy="329184"/>
          </a:xfrm>
          <a:prstGeom prst="rect">
            <a:avLst/>
          </a:prstGeom>
          <a:solidFill>
            <a:srgbClr val="006E7E"/>
          </a:solidFill>
          <a:ln w="9525">
            <a:solidFill>
              <a:srgbClr val="00C9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370832"/>
            <a:ext cx="8321040" cy="42062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[30]  Lei, C., Ma, D. H. &amp; Zhang, H. Q. (2017). "Optimal Strategy Selection for MTD Based on Markov Game." IEEE Access.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 (4 / 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852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PAPERS MENTIONED IN PPT  —  RELATED WORK  (Slides 9-10)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32104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32688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14400"/>
            <a:ext cx="38862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 Antonatos, S. et al. (2007). "Defending Against Hitlist Worms using Network Address Space Randomization." Computer Networks, Elsevier.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1609344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591056"/>
            <a:ext cx="38862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 Vikram, S. et al. (2011). "NOMAD: Towards Non-Intrusive Moving-Target Defense Against Web Bots." IEEE CNS.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286000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267712"/>
            <a:ext cx="38862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 Cho, J. H. et al. (2020). "Toward Proactive, Adaptive Defense: A Survey on Moving Target Defense." IEEE COMST, 22(1), pp. 709-745.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2962656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944368"/>
            <a:ext cx="38862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 Shi, L. et al. (2017). "Effective Moving Target Defense for SDN-based Cloud Networks." IEEE TrustCom.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3639312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621024"/>
            <a:ext cx="38862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 Hong, J. B. &amp; Kim, D. S. (2016). "Assessing the Effectiveness of MTD Using Security Models." IEEE TDSC.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4315968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4297680"/>
            <a:ext cx="38862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 Zhuang, R., DeLoach, S. A. &amp; Ou, X. (2014). "Towards a Theory of Moving Target Defense." ACM MTD Workshop, pp. 31-40.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877824"/>
            <a:ext cx="27432" cy="40233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932688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914400"/>
            <a:ext cx="3950208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 Peng, W., Li, F., Huang, C. T. &amp; Zou, X. (2014). "A Moving-Target Defense Strategy for Cloud-Based Services with Heterogeneous and Dynamic Attack Surfaces." IEEE ICC 2014.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609344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1591056"/>
            <a:ext cx="3950208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 Wang, H. et al. (2020). "Moving Target Defense for Internet of Things Using the MQTT Protocol." IEEE Access.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286000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2267712"/>
            <a:ext cx="3950208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 Atighetchi, M. et al. (2003). "Adaptive Use of Network-Centric Mechanisms in Cyber-Defense." IEEE SRDS.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962656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2944368"/>
            <a:ext cx="3950208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 Jafarian, J. H. et al. (2014). "Spatio-Temporal Address Mutation for Proactive Cyber Agility." ACM MTD Workshop.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639312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3621024"/>
            <a:ext cx="3950208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[21]  Paxson, V. (1998). "Bro: A System for Detecting Network Intruders in Real-Time." USENIX Security.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4315968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4297680"/>
            <a:ext cx="3950208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[22]  Rowe, N. et al. (2006). "Fake Honeypots: A Defensive Tactic for Cyberspace." IEEE IAW.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Latest Papers on this Topic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9377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work (2020–2023) directly related to our system.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017520"/>
                <a:gridCol w="3017520"/>
              </a:tblGrid>
              <a:tr h="6126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· YEAR · AUTHORS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IDEA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NOVELTY OVER PREVIOUS 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E4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"An Adaptive IP Hopping Approach for MTD Using a Lightweight CNN Detector"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  ·  Xu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Communication Networks, Wiley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a lightweight convolutional neural network to detect attacker scanning behavior in real time, then triggers IP hopping reactively only when a threat is detected.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paper to replace fixed timers with ML-driven reactive detection. Earlier work (Jafarian, Debroy) rotated blindly on a schedule — this rotates only when an attack is actually happening.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"MTD Discrete Host Address Mutation and Analysis in SDN"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  ·  Shi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Conference (IPCCC)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Formally analyzes how mutation frequency and address pool size together affect the probability of an attacker successfully finding a live host before the next rotation.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mathematical grounding for choosing rotation parameters. Earlier papers picked values intuitively — this gives a provable formula for the optimal pool size and interval.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"MTD Controller Based on OpenFlow Sensor Security Scheme"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  ·  Li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Communications, Elsevier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Embeds a traffic sensor directly inside the OpenFlow pipeline to monitor packet patterns as they pass through the switch, rather than relying solely on controller-level packet-in events.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anomaly detection into the data plane, reducing controller load. Prior work (including Jafarian) did all monitoring at the controller — this offloads sensing to the switch itself.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Survey on MTD for Networks: A Practical View"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  ·  Dey &amp; Bhattacharya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MDPI Electronics, 11(18)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Surveys 80+ MTD papers from 2011–2022, taxonomizes techniques by mutation type (address, port, route, topology), and evaluates each against practical deployment criteria.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survey to assess MTD papers against real-world deployment feasibility, not just security metrics. Identifies reactive detection and embedded hardware as the two biggest open gaps in the field.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"MTD-Based DoS Mitigation in Cloud Environments: A Survey"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  ·  Nguyen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Communication Networks, Wiley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Surveys how MTD strategies — including IP shuffling and route mutation — are adapted for cloud-scale SDN environments to absorb and deflect denial-of-service floods.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Extends MTD from LAN-scale (Jafarian) to cloud-scale with elastic resource allocation. Shows IP mutation alone is insufficient for DoS — must be combined with traffic redirection.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"Detecting and Mitigating DDoS Attacks with MTD in SDN"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  ·  Aydeger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Computers &amp; Security, Elsevier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automated ML-based flow classification to identify DDoS traffic with SDN-driven MTD reconfiguration that instantly redirects malicious flows away from victim hosts.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to fully automate the detect-then-reconfigure loop inside SDN with no human intervention. Earlier detection papers still required manual confirmation before triggering a response.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Novelty: Atomic NAT Rotation &amp; Zero Leakage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9264"/>
            <a:ext cx="201168" cy="201168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8412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novel: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15214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MTD paper has measured this transition leakage window on OpenFlow hardware, or proposed an atomic fix.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56816"/>
            <a:ext cx="201168" cy="201168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82880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13969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flooded the switch with packets during a rotation and analyzed captured .pcap files to count leaked real IP packets.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201168" cy="201168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163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– Atomic Overwrite: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3127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separate delete-and-install commands, we instruct the Ryu controller to overwrite the active switch rules directly in a single, atomic command.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201168" cy="201168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80390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the flood experiment showed that the exposure window and the number of leaked real-IP packets dropped to exactly zero.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2026-08-10T06:56:04Z</dcterms:created>
  <dcterms:modified xsi:type="dcterms:W3CDTF">2026-08-10T06:56:04Z</dcterms:modified>
</cp:coreProperties>
</file>