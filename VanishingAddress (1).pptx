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0" r:id="rId7"/>
    <p:sldId id="261" r:id="rId8"/>
    <p:sldId id="262" r:id="rId9"/>
    <p:sldId id="263" r:id="rId10"/>
    <p:sldId id="271" r:id="rId11"/>
    <p:sldId id="266" r:id="rId12"/>
    <p:sldId id="267" r:id="rId13"/>
    <p:sldId id="269" r:id="rId14"/>
    <p:sldId id="268" r:id="rId15"/>
    <p:sldId id="272" r:id="rId16"/>
    <p:sldId id="273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05" autoAdjust="0"/>
    <p:restoredTop sz="87843" autoAdjust="0"/>
  </p:normalViewPr>
  <p:slideViewPr>
    <p:cSldViewPr snapToGrid="0" snapToObjects="1">
      <p:cViewPr varScale="1">
        <p:scale>
          <a:sx n="96" d="100"/>
          <a:sy n="96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171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3200400" cy="3200400"/>
          </a:xfrm>
          <a:prstGeom prst="ellipse">
            <a:avLst/>
          </a:prstGeom>
          <a:solidFill>
            <a:srgbClr val="00C9E4">
              <a:alpha val="8000"/>
            </a:srgbClr>
          </a:solidFill>
          <a:ln w="12700">
            <a:solidFill>
              <a:srgbClr val="00C9E4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931920"/>
            <a:ext cx="2011680" cy="2011680"/>
          </a:xfrm>
          <a:prstGeom prst="ellipse">
            <a:avLst/>
          </a:prstGeom>
          <a:solidFill>
            <a:srgbClr val="F5A623">
              <a:alpha val="8000"/>
            </a:srgbClr>
          </a:solidFill>
          <a:ln w="12700">
            <a:solidFill>
              <a:srgbClr val="F5A62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82296"/>
            <a:ext cx="1280160" cy="1280160"/>
          </a:xfrm>
          <a:prstGeom prst="ellipse">
            <a:avLst/>
          </a:prstGeom>
          <a:solidFill>
            <a:srgbClr val="E8424E">
              <a:alpha val="10000"/>
            </a:srgbClr>
          </a:solidFill>
          <a:ln w="12700">
            <a:solidFill>
              <a:srgbClr val="E8424E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438912"/>
            <a:ext cx="2560320" cy="283464"/>
          </a:xfrm>
          <a:prstGeom prst="roundRect">
            <a:avLst>
              <a:gd name="adj" fmla="val 16129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438912"/>
            <a:ext cx="2560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·  Final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VANISHING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600" dirty="0">
                <a:solidFill>
                  <a:srgbClr val="00C9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ADDRESS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Target Defense via OpenFlow Random Host Mutation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663440"/>
            <a:ext cx="82296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 ·  OpenFlow 1.3  ·  Ryu Controller  ·  Mininet  ·  Raspberry Pi 5  ·  GPIO LEDs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 Behind This (Introduction)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didn't invent the idea — we built on top of existing research and pushed it further.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3977640" cy="3657600"/>
          </a:xfrm>
          <a:prstGeom prst="roundRect">
            <a:avLst>
              <a:gd name="adj" fmla="val 2250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298448"/>
            <a:ext cx="1600200" cy="256032"/>
          </a:xfrm>
          <a:prstGeom prst="roundRect">
            <a:avLst>
              <a:gd name="adj" fmla="val 17857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29844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HotSDN 2012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3504" y="1627632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OpenFlow Random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 Mutation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03504" y="24505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Jafarian, Al-Shaer &amp; Duan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761488"/>
            <a:ext cx="35204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" y="28346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" y="3154680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3127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have hidden real IPs (10.0.0.x)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" y="3447288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4198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exposes rotating virtual IPs to the outside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3504" y="3739896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71246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IPs (VIPs) change on a timer — every 30–60 seconds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" y="4032504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" y="400507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scans the network... but the map goes stale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3504" y="4325112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2976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SDN controller manages all VIP ↔ real IP mapping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attacker gets tricked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1463040"/>
            <a:ext cx="1645920" cy="594360"/>
          </a:xfrm>
          <a:prstGeom prst="roundRect">
            <a:avLst>
              <a:gd name="adj" fmla="val 13846"/>
            </a:avLst>
          </a:prstGeom>
          <a:solidFill>
            <a:srgbClr val="0F2040"/>
          </a:solidFill>
          <a:ln w="19050">
            <a:solidFill>
              <a:srgbClr val="E842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146304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17373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nmap 172.16.0.0/16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355080" y="1755648"/>
            <a:ext cx="594360" cy="22860"/>
          </a:xfrm>
          <a:prstGeom prst="rect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157276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→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995160" y="1463040"/>
            <a:ext cx="1737360" cy="594360"/>
          </a:xfrm>
          <a:prstGeom prst="roundRect">
            <a:avLst>
              <a:gd name="adj" fmla="val 13846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463040"/>
            <a:ext cx="1737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95160" y="173736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172.16.44.7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36408" y="2057400"/>
            <a:ext cx="27432" cy="502920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066544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663440" y="2560320"/>
            <a:ext cx="4069080" cy="594360"/>
          </a:xfrm>
          <a:prstGeom prst="roundRect">
            <a:avLst>
              <a:gd name="adj" fmla="val 13846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60320"/>
            <a:ext cx="40690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CONTROLLER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28346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Knows: VIP 172.16.44.7  =  real host 10.0.0.2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3154680"/>
            <a:ext cx="27432" cy="502920"/>
          </a:xfrm>
          <a:prstGeom prst="rect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03520" y="3657600"/>
            <a:ext cx="2743200" cy="594360"/>
          </a:xfrm>
          <a:prstGeom prst="roundRect">
            <a:avLst>
              <a:gd name="adj" fmla="val 13846"/>
            </a:avLst>
          </a:prstGeom>
          <a:solidFill>
            <a:srgbClr val="0F2040"/>
          </a:solidFill>
          <a:ln w="19050">
            <a:solidFill>
              <a:srgbClr val="29C9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03520" y="3657600"/>
            <a:ext cx="2743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HOST — h2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303520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9C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10.0.0.2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4370832"/>
            <a:ext cx="4069080" cy="365760"/>
          </a:xfrm>
          <a:prstGeom prst="roundRect">
            <a:avLst>
              <a:gd name="adj" fmla="val 15000"/>
            </a:avLst>
          </a:prstGeom>
          <a:solidFill>
            <a:srgbClr val="7A50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663440" y="43708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30s VIPs rotate → attacker's scan data is worthless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Add On Top (Motivation)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proved the concept. We made it real, reactive, and physical.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0F2040"/>
          </a:solidFill>
          <a:ln w="19050">
            <a:solidFill>
              <a:srgbClr val="E8424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70432"/>
            <a:ext cx="4114800" cy="347472"/>
          </a:xfrm>
          <a:prstGeom prst="roundRect">
            <a:avLst>
              <a:gd name="adj" fmla="val 23684"/>
            </a:avLst>
          </a:prstGeom>
          <a:solidFill>
            <a:srgbClr val="6B1F24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53312"/>
            <a:ext cx="4114800" cy="164592"/>
          </a:xfrm>
          <a:prstGeom prst="rect">
            <a:avLst/>
          </a:prstGeom>
          <a:solidFill>
            <a:srgbClr val="6B1F24"/>
          </a:solidFill>
          <a:ln w="12700">
            <a:solidFill>
              <a:srgbClr val="6B1F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225296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225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Addition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3035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Reactive Scan Detection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" y="19019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attacker probes 3+ different VIPs within 10 seconds, the controller declares a scan and triggers emergency rotation immediately — not just on a timer. The original paper only does scheduled rotation.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00600" y="1170432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1170432"/>
            <a:ext cx="4114800" cy="347472"/>
          </a:xfrm>
          <a:prstGeom prst="roundRect">
            <a:avLst>
              <a:gd name="adj" fmla="val 23684"/>
            </a:avLst>
          </a:prstGeom>
          <a:solidFill>
            <a:srgbClr val="006E7E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353312"/>
            <a:ext cx="4114800" cy="164592"/>
          </a:xfrm>
          <a:prstGeom prst="rect">
            <a:avLst/>
          </a:prstGeom>
          <a:solidFill>
            <a:srgbClr val="006E7E"/>
          </a:solidFill>
          <a:ln w="12700">
            <a:solidFill>
              <a:srgbClr val="006E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65192" y="1225296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65192" y="122529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Fix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65192" y="151790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TCP Monitoring Flows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65192" y="1901952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NAT flows are installed, packets never hit the controller — scan tracking would silently break. We added a higher-priority OpenFlow rule that copies each TCP packet to the controller before NAT rewrites it, so we see the original destination VIP.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72384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72384"/>
            <a:ext cx="4114800" cy="347472"/>
          </a:xfrm>
          <a:prstGeom prst="roundRect">
            <a:avLst>
              <a:gd name="adj" fmla="val 23684"/>
            </a:avLst>
          </a:prstGeom>
          <a:solidFill>
            <a:srgbClr val="7A5012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55264"/>
            <a:ext cx="4114800" cy="164592"/>
          </a:xfrm>
          <a:prstGeom prst="rect">
            <a:avLst/>
          </a:prstGeom>
          <a:solidFill>
            <a:srgbClr val="7A5012"/>
          </a:solidFill>
          <a:ln w="12700">
            <a:solidFill>
              <a:srgbClr val="7A501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0352" y="3127248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30352" y="3419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Physical Hardware on Pi 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0352" y="380390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2012 paper was simulation only. We deployed the entire system on a Raspberry Pi 5 running Open vSwitch — a real, functioning prototype you can hold in your hand.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072384"/>
            <a:ext cx="4114800" cy="1737360"/>
          </a:xfrm>
          <a:prstGeom prst="roundRect">
            <a:avLst>
              <a:gd name="adj" fmla="val 4737"/>
            </a:avLst>
          </a:prstGeom>
          <a:solidFill>
            <a:srgbClr val="0F2040"/>
          </a:solidFill>
          <a:ln w="19050">
            <a:solidFill>
              <a:srgbClr val="29C9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072384"/>
            <a:ext cx="4114800" cy="347472"/>
          </a:xfrm>
          <a:prstGeom prst="roundRect">
            <a:avLst>
              <a:gd name="adj" fmla="val 23684"/>
            </a:avLst>
          </a:prstGeom>
          <a:solidFill>
            <a:srgbClr val="12504A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255264"/>
            <a:ext cx="4114800" cy="164592"/>
          </a:xfrm>
          <a:prstGeom prst="rect">
            <a:avLst/>
          </a:prstGeom>
          <a:solidFill>
            <a:srgbClr val="12504A"/>
          </a:solidFill>
          <a:ln w="12700">
            <a:solidFill>
              <a:srgbClr val="1250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65192" y="3127248"/>
            <a:ext cx="1188720" cy="228600"/>
          </a:xfrm>
          <a:prstGeom prst="roundRect">
            <a:avLst>
              <a:gd name="adj" fmla="val 20000"/>
            </a:avLst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31272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65192" y="341985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LED Attack Indicators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65192" y="3803904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(GPIO 17) blinks on every scheduled rotation. Red LED (GPIO 27) blinks 3× rapidly when a scan is detected. Physical, visible proof the defense is actively working.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SDN?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Defined Networking — separating the "brain" of a network from the "muscle".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Router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3840480" cy="2286000"/>
          </a:xfrm>
          <a:prstGeom prst="roundRect">
            <a:avLst>
              <a:gd name="adj" fmla="val 3600"/>
            </a:avLst>
          </a:prstGeom>
          <a:solidFill>
            <a:srgbClr val="0F2040"/>
          </a:solidFill>
          <a:ln w="19050">
            <a:solidFill>
              <a:srgbClr val="2A3F5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30352" y="1572768"/>
            <a:ext cx="3511296" cy="914400"/>
          </a:xfrm>
          <a:prstGeom prst="roundRect">
            <a:avLst>
              <a:gd name="adj" fmla="val 6000"/>
            </a:avLst>
          </a:prstGeom>
          <a:solidFill>
            <a:srgbClr val="2A3F5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572768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1865376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packets 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(routing table, forwarding logic)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2505456"/>
            <a:ext cx="3328416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0352" y="2560320"/>
            <a:ext cx="3511296" cy="914400"/>
          </a:xfrm>
          <a:prstGeom prst="roundRect">
            <a:avLst>
              <a:gd name="adj" fmla="val 6000"/>
            </a:avLst>
          </a:prstGeom>
          <a:solidFill>
            <a:srgbClr val="2A3F5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560320"/>
            <a:ext cx="35112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852928"/>
            <a:ext cx="3511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moves packets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(hardware, ASICs, ports)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planes locked in the same box.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reprogram it from outside.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251960" y="24688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224528" y="2944368"/>
            <a:ext cx="694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</a:t>
            </a:r>
            <a:endParaRPr lang="en-US" sz="800" dirty="0"/>
          </a:p>
          <a:p>
            <a:pPr marL="0" indent="0" algn="ctr">
              <a:buNone/>
            </a:pPr>
            <a:r>
              <a:rPr lang="en-US" sz="8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93776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Defined Networking (SDN)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0" y="1417320"/>
            <a:ext cx="3657600" cy="777240"/>
          </a:xfrm>
          <a:prstGeom prst="roundRect">
            <a:avLst>
              <a:gd name="adj" fmla="val 10588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417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Controller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server. Your code lives here.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Ryu Controller (Python)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30568" y="2194560"/>
            <a:ext cx="27432" cy="475488"/>
          </a:xfrm>
          <a:prstGeom prst="rect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85432" y="222199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</a:t>
            </a:r>
            <a:endParaRPr lang="en-US" sz="800" dirty="0"/>
          </a:p>
          <a:p>
            <a:pPr marL="0" indent="0" algn="l">
              <a:buNone/>
            </a:pPr>
            <a:r>
              <a:rPr lang="en-US" sz="800" i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0" y="2670048"/>
            <a:ext cx="3657600" cy="713232"/>
          </a:xfrm>
          <a:prstGeom prst="roundRect">
            <a:avLst>
              <a:gd name="adj" fmla="val 11538"/>
            </a:avLst>
          </a:prstGeom>
          <a:solidFill>
            <a:srgbClr val="0F2040"/>
          </a:solidFill>
          <a:ln w="19050">
            <a:solidFill>
              <a:srgbClr val="2A3F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700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— OVS Switch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29626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does what the controller tells it.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dumb, and reprogrammable.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4279392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297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 we add: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4360" y="45537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Ryu controller intercepts ARP, hands out VIPs, rewrites OpenFlow tables in the OVS switch every 30s, and detects scans. The switch enforces it all — hosts never know VIPs exist.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Simulation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 Linux machine (or WSL2). No hardware needed — a full virtual network in software.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89888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22529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Ryu Controller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926080" y="124358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C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controller.py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59536" y="14996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Python SDN app. Manages VIP assignments, installs OpenFlow flows, detects scans, triggers rotation.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92481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0F2040"/>
          </a:solidFill>
          <a:ln w="19050">
            <a:solidFill>
              <a:srgbClr val="29C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144268"/>
            <a:ext cx="201168" cy="201168"/>
          </a:xfrm>
          <a:prstGeom prst="ellipse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197967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199796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29C9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topology.py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59536" y="225399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virtual network of hosts and a switch on your laptop — no physical hardware needed.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5760" y="267919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0F2040"/>
          </a:solidFill>
          <a:ln w="19050">
            <a:solidFill>
              <a:srgbClr val="8BA3B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2898648"/>
            <a:ext cx="201168" cy="201168"/>
          </a:xfrm>
          <a:prstGeom prst="ellipse">
            <a:avLst/>
          </a:prstGeom>
          <a:solidFill>
            <a:srgbClr val="8BA3B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" y="27340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vSwitch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926080" y="275234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BA3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(via Mininet)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59536" y="300837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software OpenFlow switch. Receives flow rules from Ryu and enforces all NAT rewrites.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43357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0F2040"/>
          </a:solidFill>
          <a:ln w="19050">
            <a:solidFill>
              <a:srgbClr val="E8424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" y="3653028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34884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Nmap (Attacker)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926080" y="350672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E842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59536" y="376275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scanner. Sweeps the VIP subnet to discover hosts. Runs twice to prove addresses have changed.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65760" y="4187952"/>
            <a:ext cx="4160520" cy="658368"/>
          </a:xfrm>
          <a:prstGeom prst="roundRect">
            <a:avLst>
              <a:gd name="adj" fmla="val 12500"/>
            </a:avLst>
          </a:prstGeom>
          <a:solidFill>
            <a:srgbClr val="0F2040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6928" y="440740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2428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 Script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261104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5A62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demo.py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59536" y="451713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whole scenario: warmup → scan #1 → wait for rotation → scan #2 → compare.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54880" y="1115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demo does, step by step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417320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29C9B5">
              <a:alpha val="28000"/>
            </a:srgbClr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141732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06440" y="141732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ping each other. Controller learns MACs, assigns VIPs. Ryu installs NAT flows in OVS.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1892808"/>
            <a:ext cx="40233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020824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E8424E">
              <a:alpha val="28000"/>
            </a:srgbClr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020824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#1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806440" y="202082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sweeps 172.16.0.0/16. Discovers 3 active VIP addresses. This is what the attacker knows.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496312"/>
            <a:ext cx="40233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2624328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F5A623">
              <a:alpha val="28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624328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262432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fires (30s). All VIPs change. OVS flow tables are rewritten. Yellow LED blinks on Pi.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099816"/>
            <a:ext cx="40233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227832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E8424E">
              <a:alpha val="28000"/>
            </a:srgbClr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227832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#2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06440" y="32278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sweeps again. Returns completely different IPs. Zero overlap with scan #1.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3703320"/>
            <a:ext cx="40233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54880" y="3831336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00C9E4">
              <a:alpha val="28000"/>
            </a:srgbClr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54880" y="3831336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06440" y="383133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still pings h2 using the new VIP. Legitimate traffic is unaffected by the defense.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754880" y="4306824"/>
            <a:ext cx="40233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754880" y="4434840"/>
            <a:ext cx="960120" cy="420624"/>
          </a:xfrm>
          <a:prstGeom prst="roundRect">
            <a:avLst>
              <a:gd name="adj" fmla="val 13043"/>
            </a:avLst>
          </a:prstGeom>
          <a:solidFill>
            <a:srgbClr val="29C9B5">
              <a:alpha val="28000"/>
            </a:srgbClr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0" y="4434840"/>
            <a:ext cx="960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06440" y="443484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PASS: attacker's scan data is 100% wrong. MTD is working. Defense is transparent to real users.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F68E0771-4F34-9E68-866C-7CA4387657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34DC2-2606-9EBD-3C60-1370E139E88F}"/>
              </a:ext>
            </a:extLst>
          </p:cNvPr>
          <p:cNvSpPr txBox="1"/>
          <p:nvPr/>
        </p:nvSpPr>
        <p:spPr>
          <a:xfrm>
            <a:off x="1018095" y="1338606"/>
            <a:ext cx="70983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PROJECT TEMPLATE</a:t>
            </a:r>
            <a:endParaRPr lang="en-IN" sz="6000" u="sng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7315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Hardware Demo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040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the simulation off the laptop and onto a real device — with LEDs that blink when something happens.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201168" cy="201168"/>
          </a:xfrm>
          <a:prstGeom prst="ellipse">
            <a:avLst/>
          </a:prstGeom>
          <a:solidFill>
            <a:srgbClr val="00C9E4"/>
          </a:solidFill>
          <a:ln w="12700">
            <a:solidFill>
              <a:srgbClr val="00C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Raspberry Pi 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7373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MTD system runs here — Open vSwitch + Ryu Controller + our Python code.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3749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29C9B5"/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671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vSwitch (OVS)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4414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OpenFlow switch on the Pi. Enforces the NAT flow rules sent by Ryu.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07208"/>
            <a:ext cx="3749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990088"/>
            <a:ext cx="201168" cy="20116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87121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Yellow LED (GPIO 17)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14553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Blinks once on every scheduled VIP rotation. Visual pulse of the defense working.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3749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694176"/>
            <a:ext cx="201168" cy="201168"/>
          </a:xfrm>
          <a:prstGeom prst="ellipse">
            <a:avLst/>
          </a:prstGeom>
          <a:solidFill>
            <a:srgbClr val="E8424E"/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5753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LED (GPIO 27)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384962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Blinks 3× rapidly when a scan is detected. Physical alarm for an active attack.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15384"/>
            <a:ext cx="3749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398264"/>
            <a:ext cx="201168" cy="201168"/>
          </a:xfrm>
          <a:prstGeom prst="ellipse">
            <a:avLst/>
          </a:prstGeom>
          <a:solidFill>
            <a:srgbClr val="8BA3BA"/>
          </a:solidFill>
          <a:ln w="12700">
            <a:solidFill>
              <a:srgbClr val="8BA3B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793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330Ω Resistors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455371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LED, wired to GND. Protects the Pi from blowing the GPIO pins.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1115568"/>
            <a:ext cx="4206240" cy="3703320"/>
          </a:xfrm>
          <a:prstGeom prst="roundRect">
            <a:avLst>
              <a:gd name="adj" fmla="val 2222"/>
            </a:avLst>
          </a:prstGeom>
          <a:solidFill>
            <a:srgbClr val="0F2040"/>
          </a:solidFill>
          <a:ln w="19050">
            <a:solidFill>
              <a:srgbClr val="00C9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73168" y="12070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see on demo day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73168" y="1508760"/>
            <a:ext cx="37947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73168" y="1645920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0A1628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1645920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550408" y="163677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boots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50408" y="185623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connects to WiFi. Ryu starts. VIPs assigned to all hosts automatically.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73168" y="2194560"/>
            <a:ext cx="37947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73168" y="2258568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E8424E">
              <a:alpha val="30000"/>
            </a:srgbClr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2258568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550408" y="224942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 begins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50408" y="2468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 runs nmap. Discovers 3 VIPs. Red LED blinks 3× — scan detected.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773168" y="2807208"/>
            <a:ext cx="37947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73168" y="2871216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F5A623">
              <a:alpha val="3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2871216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550408" y="28620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Rotation event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550408" y="308152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LED blinks once. All VIPs change. OVS flow tables rewritten instantly.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73168" y="3419856"/>
            <a:ext cx="37947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3483864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E8424E">
              <a:alpha val="30000"/>
            </a:srgbClr>
          </a:solidFill>
          <a:ln w="12700">
            <a:solidFill>
              <a:srgbClr val="E842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3483864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550408" y="34747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 again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550408" y="3694176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 returns completely different VIPs. Zero overlap with the first scan.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773168" y="4032504"/>
            <a:ext cx="379476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4096512"/>
            <a:ext cx="685800" cy="402336"/>
          </a:xfrm>
          <a:prstGeom prst="roundRect">
            <a:avLst>
              <a:gd name="adj" fmla="val 13636"/>
            </a:avLst>
          </a:prstGeom>
          <a:solidFill>
            <a:srgbClr val="29C9B5">
              <a:alpha val="30000"/>
            </a:srgbClr>
          </a:solidFill>
          <a:ln w="12700">
            <a:solidFill>
              <a:srgbClr val="29C9B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4096512"/>
            <a:ext cx="685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550408" y="408736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Legit traffic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550408" y="4306824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pings h2 using the new VIP — works fine. Defense is invisible to real users.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 (1 / 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predecessors — papers we build upon and explicitly extend.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13816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82219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Paper &amp; Venue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Core Idea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Gap / What We Add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"OpenFlow Random Host Mutation: Transparently Moving Target Defense using SDN"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Jafarian, Al-Shaer &amp; Duan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ACM HotSDN, 2012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SDN-based MTD via IP rotation. Controller assigns VIPs to real hosts and installs a 2-table OpenFlow NAT pipeline. ARP proxy handles VIP resolution. VIPs rotate on a fixed timer.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scan detection — rotation is purely scheduled. Simulation only; no physical deployment. TCP monitoring for scan visibility post-NAT is absent. No reactive emergency rotation.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"Toward Network Configuration Randomization for Moving Target Defense"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Al-Shaer, 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— Moving Target Defense, 2011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 for randomizing IPs, ports, and protocols simultaneously to create unpredictable attack surface. Defines theoretical metrics for measuring randomization effectiveness.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Purely theoretical — no SDN or OpenFlow implementation. No scan detection or reactive rotation. Randomization model not validated on a live network or embedded hardware.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"MT6D: A Moving Target IPv6 Defense"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Dunlop, Groat, Marchany &amp; Tront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MILCOM, 2011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Applies MTD to IPv6 by randomizing host addresses on a schedule. Leverages IPv6 stateless autoconfiguration. Makes scanning ineffective by constantly shifting the address space.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IPv6 only — not applicable to IPv4/SDN environments. No OpenFlow or controller-based NAT. No scan detection or emergency rotation. No hardware deployment on embedded systems.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"SDN-based Solutions for Moving Target Defense Network Application"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Kampanakis, Perros &amp; Beyene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WoWMoM, 2014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 SDN to implement IP and port randomization. Evaluates performance overhead of randomization schemes in an SDN environment. Demonstrates controller-managed mutation is feasible.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3-table OpenFlow pipeline or TCP monitoring flow for scan visibility. No scan detection or emergency rotation. No physical hardware or embedded system deployment.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 (2 / 2)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MTD foundations — theoretical frameworks and optimization approaches.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813816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3822192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Paper &amp; Venue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Core Idea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A162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Gap / What We Add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C9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"Frequency-Minimal Moving Target Defense using Software-Defined Networking"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Debroy, Calyam &amp; Nguyen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ICNC, 2016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IP mutation frequency to minimize network overhead while preserving defense quality. Proposes adaptive rotation intervals based on attack probability and network load.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Focuses only on scheduling optimization — no scan detection or reactive emergency rotation. No physical hardware deployment. No TCP monitoring flow for scan visibility post-NAT.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"Effectiveness of Moving Target Defenses"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Evans, Nguyen-Tuong &amp; Knight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Springer — Moving Target Defense, 2011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Theoretically analyzes effectiveness of MTD approaches. Defines metrics for defense quality, attack surface reduction, and the cost-benefit tradeoff of randomization strategies.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 study only — no SDN or network implementation. No scan detection. Metrics not validated against real attack tools or physical hardware deployment.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"Creating a Cyber Moving Target for Critical Infrastructure Applications"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Okhravi, Comella, Robinson &amp; Haines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Computers &amp; Security, Elsevier, 31(8), 2012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Lincoln Lab paper proposing MTD for critical infrastructure via platform diversity — rotating OS types, services, and addresses across nodes to make attacker reconnaissance persistently stale.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Targets platform heterogeneity, not SDN-based address mutation. No OpenFlow or controller-based NAT pipeline. No reactive scan detection or embedded hardware deployment.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69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"Optimal Strategy Selection for Moving Target Defense Based on Markov Game"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Lei, Ma &amp; Zhang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E8EE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Access, 2017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8BA3B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the attacker-defender MTD interaction as a two-player Markov game. Derives Nash equilibrium rotation strategies that maximize defense while minimizing overhead cost.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rgbClr val="00C9E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Game-theoretic model only — no SDN or OpenFlow implementation. Cannot detect or react to active scans. Theory not validated in a live network or on physical hardware.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2C6BF97D-AAF9-9D6D-A5E8-FC2EC6ACE65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FCB3A-9BC8-4321-55D9-9E54C08D6618}"/>
              </a:ext>
            </a:extLst>
          </p:cNvPr>
          <p:cNvSpPr txBox="1"/>
          <p:nvPr/>
        </p:nvSpPr>
        <p:spPr>
          <a:xfrm>
            <a:off x="71561" y="198783"/>
            <a:ext cx="891341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</a:rPr>
              <a:t>                                                     </a:t>
            </a:r>
            <a:r>
              <a:rPr lang="en-IN" sz="2000" u="sng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TENTATIVE TIMELINE</a:t>
            </a:r>
          </a:p>
          <a:p>
            <a:r>
              <a:rPr lang="en-IN" sz="1400" dirty="0">
                <a:solidFill>
                  <a:schemeClr val="bg1"/>
                </a:solidFill>
              </a:rPr>
              <a:t>                                                                  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 1 — Literature Review · Early </a:t>
            </a:r>
            <a:r>
              <a:rPr lang="en-IN" sz="1400" i="1" dirty="0">
                <a:solidFill>
                  <a:schemeClr val="bg1"/>
                </a:solidFill>
              </a:rPr>
              <a:t>July 2026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30 papers surveyed; research gap identified (no reactive scan detection in existing MTD)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 2 — System Design . </a:t>
            </a:r>
            <a:r>
              <a:rPr lang="en-IN" sz="1400" i="1" dirty="0">
                <a:solidFill>
                  <a:schemeClr val="bg1"/>
                </a:solidFill>
              </a:rPr>
              <a:t>July 2026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3-table OpenFlow NAT pipeline designed; VIP pool, rotation interval, and GPIO pin mapping decided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 3 — Software Implementation .</a:t>
            </a:r>
            <a:r>
              <a:rPr lang="en-IN" sz="1400" i="1" dirty="0">
                <a:solidFill>
                  <a:schemeClr val="bg1"/>
                </a:solidFill>
              </a:rPr>
              <a:t> August 2026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Ryu controller, Mininet topology, scan detector, LED driver, and automated demo script built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 4 — Partial Hardware Deployment · </a:t>
            </a:r>
            <a:r>
              <a:rPr lang="en-IN" sz="1400" i="1" dirty="0">
                <a:solidFill>
                  <a:schemeClr val="bg1"/>
                </a:solidFill>
              </a:rPr>
              <a:t>August 2026 (for Mid Review)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System deployed on Raspberry Pi 5 with GPIO LEDs wired , however, it is still software running on a different </a:t>
            </a:r>
            <a:r>
              <a:rPr lang="en-IN" sz="1400" dirty="0" err="1">
                <a:solidFill>
                  <a:schemeClr val="bg1"/>
                </a:solidFill>
              </a:rPr>
              <a:t>cpu</a:t>
            </a:r>
            <a:endParaRPr lang="en-IN" sz="1400" dirty="0">
              <a:solidFill>
                <a:schemeClr val="bg1"/>
              </a:solidFill>
            </a:endParaRP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 5 — Full Hardware Deployment with Ethernet cables . September 2026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Presentation prepared; teacher feedback incorporated</a:t>
            </a:r>
          </a:p>
          <a:p>
            <a:endParaRPr lang="en-IN" sz="1400" dirty="0">
              <a:solidFill>
                <a:schemeClr val="bg1"/>
              </a:solidFill>
            </a:endParaRPr>
          </a:p>
          <a:p>
            <a:r>
              <a:rPr lang="en-IN" sz="1400" dirty="0">
                <a:solidFill>
                  <a:schemeClr val="bg1"/>
                </a:solidFill>
              </a:rPr>
              <a:t>Phase 6 — October 2026</a:t>
            </a:r>
            <a:br>
              <a:rPr lang="en-IN" sz="1400" dirty="0">
                <a:solidFill>
                  <a:schemeClr val="bg1"/>
                </a:solidFill>
              </a:rPr>
            </a:br>
            <a:r>
              <a:rPr lang="en-IN" sz="1400" dirty="0">
                <a:solidFill>
                  <a:schemeClr val="bg1"/>
                </a:solidFill>
              </a:rPr>
              <a:t>Perfecting of Software and Hardware deployments, correcting any shortcomings or malfunctions.</a:t>
            </a:r>
          </a:p>
          <a:p>
            <a:endParaRPr lang="en-IN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645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(1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THIS SECTION  —  BACKGROUND &amp; INFRASTRUCTURE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14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914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McKeown, N. et al. (2008). "OpenFlow: Enabling Innovation in Campus Networks." ACM SIGCOMM Computer Communication Review, 38(2), pp. 69-74.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OpenFlow's founding paper — the protocol our controller uses to push NAT rewrite rules into Open vSwitch at the data plane.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6642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Lantz, B., Heller, B. &amp; McKeown, N. (2010). "A Network in a Laptop: Rapid Prototyping for Software-Defined Networks." ACM HotNets-IX.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Mininet, the network emulator used in our simulation to run a complete virtual network on a single machine.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4140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Pfaff, B. et al. (2015). "The Design and Implementation of Open vSwitch." USENIX NSDI, pp. 117-130.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Open vSwitch — the software switch our controller programs via OpenFlow to enforce all VIP translation rules.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638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1638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Kreutz, D. et al. (2015). "Software-Defined Networking: A Comprehensive Survey." Proceedings of the IEEE, 103(1), pp. 14-76.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SDN survey covering control-plane architecture and southbound protocols. Background for understanding our system design.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895344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9136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Postel, J. (1981). "Internet Protocol." IETF RFC 791.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IPv4 specification — defines the packet format and addressing that our NAT rewrite rules operate on.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(2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THIS SECTION  —  BACKGROUND &amp; INFRASTRUCTURE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96112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914400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914400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Braden, R. (1989). "Requirements for Internet Hosts — Communication Layers." IETF RFC 1122.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communication requirements — relevant to how attacker hosts probe VIPs and how real hosts respond to TCP/ICMP.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47472" y="1645920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66420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1664208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Narten, T. et al. (2007). "Privacy Extensions for Stateless Address Autoconfiguration in IPv6." IETF RFC 4941.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22960" y="1938528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host-level address randomization — conceptual precursor to what our SDN controller does at the network layer for IPv4.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41401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2414016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Scott-Hayward, S., O'Callaghan, G. &amp; Sezer, S. (2013). "SDN Security: A Survey." IEEE Future Networks &amp; Mobile Summit (SDN4FNS), pp. 1-7.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883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of SDN-specific security threats and defenses — why the SDN controller is both a powerful defense tool and a high-value attack target.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7472" y="3145536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1638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163824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Bellovin, S. M. (1989). "Security Problems in the TCP/IP Protocol Suite." ACM SIGCOMM Computer Communication Review, 19(2), pp. 32-48.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" y="3438144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paper identifying inherent TCP/IP vulnerabilities — directly motivates why network-layer defenses like MTD are necessary.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47472" y="3895344"/>
            <a:ext cx="45720" cy="676656"/>
          </a:xfrm>
          <a:prstGeom prst="rect">
            <a:avLst/>
          </a:prstGeom>
          <a:solidFill>
            <a:srgbClr val="12504A"/>
          </a:solidFill>
          <a:ln w="9525">
            <a:solidFill>
              <a:srgbClr val="29C9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39136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29C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" y="39136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Durumeric, Z., Wustrow, E. &amp; Halderman, J. A. (2013). "ZMap: Fast Internet-Wide Scanning and its Security Implications." USENIX Security, pp. 605-619.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attackers can scan the entire IPv4 space in under an hour — the exact reconnaissance threat our VIP rotation is designed to defeat.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(3 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PAPERS MENTIONED IN PPT  —  RELATED WORK  (Slides 9-10)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 Antonatos, S. et al. (2007). "Defending Against Hitlist Worms using Network Address Space Randomization." Computer Networks, Elsevier.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609344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591056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 Vikram, S. et al. (2011). "NOMAD: Towards Non-Intrusive Moving-Target Defense Against Web Bots." IEEE CNS.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267712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 Cho, J. H. et al. (2020). "Toward Proactive, Adaptive Defense: A Survey on Moving Target Defense." IEEE Communications Surveys &amp; Tutorials, 22(1), pp. 709-745.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962656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944368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 Shi, L. et al. (2017). "Effective Moving Target Defense for SDN-based Cloud Networks." IEEE TrustCom.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639312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621024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 Hong, J. B. &amp; Kim, D. S. (2016). "Assessing the Effectiveness of MTD Using Security Models." IEEE Trans. on Dependable &amp; Secure Computing.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431596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297680"/>
            <a:ext cx="3886200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 Zhuang, R., DeLoach, S. A. &amp; Ou, X. (2014). "Towards a Theory of Moving Target Defense." ACM Workshop on Moving Target Defense (MTD '14), pp. 31-40.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877824"/>
            <a:ext cx="27432" cy="40233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93268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91456" y="914400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 Peng, W., Li, F., Huang, C. T. &amp; Zou, X. (2014). "A Moving-Target Defense Strategy for Cloud-Based Services with Heterogeneous and Dynamic Attack Surfaces." IEEE ICC 2014.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609344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91456" y="1591056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 Wang, H. et al. (2020). "Moving Target Defense for Internet of Things Using the MQTT Protocol." IEEE Access.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286000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2267712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 Atighetchi, M. et al. (2003). "Adaptive Use of Network-Centric Mechanisms in Cyber-Defense." IEEE SRDS.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962656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91456" y="2944368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 Jafarian, J. H. et al. (2014). "Spatio-Temporal Address Mutation for Proactive Cyber Agility." ACM MTD Workshop.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639312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3621024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 Paxson, V. (1998). "Bro: A System for Detecting Network Intruders in Real-Time." USENIX Security Symposium.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315968"/>
            <a:ext cx="45720" cy="347472"/>
          </a:xfrm>
          <a:prstGeom prst="rect">
            <a:avLst/>
          </a:prstGeom>
          <a:solidFill>
            <a:srgbClr val="7A5012"/>
          </a:solidFill>
          <a:ln w="9525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91456" y="4297680"/>
            <a:ext cx="3950208" cy="530352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 Rowe, N. et al. (2006). "Fake Honeypots: A Defensive Tactic for Cyberspace." IEEE IAW.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 (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 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548640"/>
            <a:ext cx="822960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852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00C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PAPERS MENTIONED IN PPT  —  LITERATURE REVIEW  (Slides 7-8)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457200" y="804672"/>
            <a:ext cx="8321040" cy="22860"/>
          </a:xfrm>
          <a:prstGeom prst="rect">
            <a:avLst/>
          </a:prstGeom>
          <a:solidFill>
            <a:srgbClr val="2A3F5A"/>
          </a:solidFill>
          <a:ln w="12700">
            <a:solidFill>
              <a:srgbClr val="2A3F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14400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 Jafarian, J. H., Al-Shaer, E. &amp; Duan, Q. (2012). "OpenFlow Random Host Mutation: Transparently Moving Target Defense using SDN." ACM HotSDN.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" y="1426464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08176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 Jafarian, J. H., Al-Shaer, E. &amp; Duan, Q. (2015). "An Effective Address Mutation Approach for Disrupting Reconnaissance Activities." IEEE Trans. on Information Forensics and Security, 10(12), pp. 2562-2577.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1920240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01952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 Dunlop, M. et al. (2011). "MT6D: A Moving Target IPv6 Defense." IEEE MILCOM.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" y="2414016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95728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[26]  Kampanakis, P., Perros, H. &amp; Beyene, T. (2014). "SDN-based Solutions for Moving Target Defense Network Application." IEEE WoWMoM.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907792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889504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  Debroy, S., Calyam, P. &amp; Nguyen, M. (2016). "Frequency-Minimal Moving Target Defense using SDN." IEEE ICNC.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" y="3401568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83280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 Evans, D., Nguyen-Tuong, A. &amp; Knight, J. (2011). "Effectiveness of Moving Target Defenses." In: Moving Target Defense. Springer.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3895344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3877056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[29]  Okhravi, H., Comella, A., Robinson, E. &amp; Haines, J. (2012). "Creating a Cyber Moving Target for Critical Infrastructure Applications." Computers &amp; Security, 31(8), pp. 879-887.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4389120"/>
            <a:ext cx="45720" cy="329184"/>
          </a:xfrm>
          <a:prstGeom prst="rect">
            <a:avLst/>
          </a:prstGeom>
          <a:solidFill>
            <a:srgbClr val="006E7E"/>
          </a:solidFill>
          <a:ln w="9525">
            <a:solidFill>
              <a:srgbClr val="00C9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70832"/>
            <a:ext cx="8321040" cy="420624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BA3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[30]  Lei, C., Ma, D. H. &amp; Zhang, H. Q. (2017). "Optimal Strategy Selection for MTD Based on Markov Game." IEEE Access.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6BEAE9A-EC4F-2DA4-0B2D-946B1E022FD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A15BC-0FBB-2836-44C2-3FDDF0A01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602"/>
            <a:ext cx="9064488" cy="511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8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F75D3E-DE44-DF15-86C8-C2F393C93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42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3100</Words>
  <Application>Microsoft Office PowerPoint</Application>
  <PresentationFormat>On-screen Show (16:9)</PresentationFormat>
  <Paragraphs>263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Aditi Sriram</cp:lastModifiedBy>
  <cp:revision>5</cp:revision>
  <dcterms:created xsi:type="dcterms:W3CDTF">2026-08-04T10:55:09Z</dcterms:created>
  <dcterms:modified xsi:type="dcterms:W3CDTF">2026-08-10T10:43:08Z</dcterms:modified>
</cp:coreProperties>
</file>